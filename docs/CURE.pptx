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CURE sits between single-link and centroid-based clustering. The two knobs that define it are c (how many representatives per cluster) and alpha (how far they are shrunk toward the centroid).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alpha=1 degeneracy is a good sanity check and is tested in the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Equation 3 is the one to dwell on: it is the whole of CURE in one line, and it is literally one line of code in the implementation.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3 is where CURE differs from every other agglomerative method.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line of numpy broadcasting implements equation 3 for all representatives at 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figures measured on 150-point datasets from the project's own runs.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51292" y="2382012"/>
            <a:ext cx="82296" cy="82296"/>
          </a:xfrm>
          <a:prstGeom prst="ellipse">
            <a:avLst/>
          </a:prstGeom>
          <a:solidFill>
            <a:srgbClr val="4A3A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99932" y="2016252"/>
            <a:ext cx="82296" cy="82296"/>
          </a:xfrm>
          <a:prstGeom prst="ellipse">
            <a:avLst/>
          </a:prstGeom>
          <a:solidFill>
            <a:srgbClr val="4A3A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5772" y="2153412"/>
            <a:ext cx="82296" cy="82296"/>
          </a:xfrm>
          <a:prstGeom prst="ellipse">
            <a:avLst/>
          </a:prstGeom>
          <a:solidFill>
            <a:srgbClr val="4A3A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28732" y="2519172"/>
            <a:ext cx="82296" cy="82296"/>
          </a:xfrm>
          <a:prstGeom prst="ellipse">
            <a:avLst/>
          </a:prstGeom>
          <a:solidFill>
            <a:srgbClr val="4A3A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85932" y="3204972"/>
            <a:ext cx="82296" cy="82296"/>
          </a:xfrm>
          <a:prstGeom prst="ellipse">
            <a:avLst/>
          </a:prstGeom>
          <a:solidFill>
            <a:srgbClr val="4A3A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8772" y="4073652"/>
            <a:ext cx="82296" cy="82296"/>
          </a:xfrm>
          <a:prstGeom prst="ellipse">
            <a:avLst/>
          </a:prstGeom>
          <a:solidFill>
            <a:srgbClr val="4A3A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08692" y="4622292"/>
            <a:ext cx="82296" cy="82296"/>
          </a:xfrm>
          <a:prstGeom prst="ellipse">
            <a:avLst/>
          </a:prstGeom>
          <a:solidFill>
            <a:srgbClr val="4A3A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8572" y="4759452"/>
            <a:ext cx="82296" cy="82296"/>
          </a:xfrm>
          <a:prstGeom prst="ellipse">
            <a:avLst/>
          </a:prstGeom>
          <a:solidFill>
            <a:srgbClr val="4A3A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25612" y="4439412"/>
            <a:ext cx="82296" cy="82296"/>
          </a:xfrm>
          <a:prstGeom prst="ellipse">
            <a:avLst/>
          </a:prstGeom>
          <a:solidFill>
            <a:srgbClr val="4A3A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14132" y="3707892"/>
            <a:ext cx="82296" cy="82296"/>
          </a:xfrm>
          <a:prstGeom prst="ellipse">
            <a:avLst/>
          </a:prstGeom>
          <a:solidFill>
            <a:srgbClr val="4A3A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782812" y="3067812"/>
            <a:ext cx="82296" cy="82296"/>
          </a:xfrm>
          <a:prstGeom prst="ellipse">
            <a:avLst/>
          </a:prstGeom>
          <a:solidFill>
            <a:srgbClr val="4A3A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97212" y="2839212"/>
            <a:ext cx="82296" cy="82296"/>
          </a:xfrm>
          <a:prstGeom prst="ellipse">
            <a:avLst/>
          </a:prstGeom>
          <a:solidFill>
            <a:srgbClr val="4A3A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154412" y="3616452"/>
            <a:ext cx="82296" cy="82296"/>
          </a:xfrm>
          <a:prstGeom prst="ellipse">
            <a:avLst/>
          </a:prstGeom>
          <a:solidFill>
            <a:srgbClr val="4A3A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240012" y="3936492"/>
            <a:ext cx="82296" cy="82296"/>
          </a:xfrm>
          <a:prstGeom prst="ellipse">
            <a:avLst/>
          </a:prstGeom>
          <a:solidFill>
            <a:srgbClr val="4A3A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54212" y="3433572"/>
            <a:ext cx="82296" cy="82296"/>
          </a:xfrm>
          <a:prstGeom prst="ellipse">
            <a:avLst/>
          </a:prstGeom>
          <a:solidFill>
            <a:srgbClr val="4A3A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H="1" flipV="1">
            <a:off x="8092440" y="2423160"/>
            <a:ext cx="480060" cy="352044"/>
          </a:xfrm>
          <a:prstGeom prst="line">
            <a:avLst/>
          </a:prstGeom>
          <a:noFill/>
          <a:ln w="12700">
            <a:solidFill>
              <a:srgbClr val="3D2F5C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8481060" y="2683764"/>
            <a:ext cx="182880" cy="182880"/>
          </a:xfrm>
          <a:prstGeom prst="ellipse">
            <a:avLst/>
          </a:prstGeom>
          <a:ln w="25400">
            <a:solidFill>
              <a:srgbClr val="18E0B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10415016" y="3246120"/>
            <a:ext cx="512064" cy="64008"/>
          </a:xfrm>
          <a:prstGeom prst="line">
            <a:avLst/>
          </a:prstGeom>
          <a:noFill/>
          <a:ln w="12700">
            <a:solidFill>
              <a:srgbClr val="3D2F5C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10323576" y="3218688"/>
            <a:ext cx="182880" cy="182880"/>
          </a:xfrm>
          <a:prstGeom prst="ellipse">
            <a:avLst/>
          </a:prstGeom>
          <a:ln w="25400">
            <a:solidFill>
              <a:srgbClr val="18E0B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909810" y="4231386"/>
            <a:ext cx="240030" cy="432054"/>
          </a:xfrm>
          <a:prstGeom prst="line">
            <a:avLst/>
          </a:prstGeom>
          <a:noFill/>
          <a:ln w="12700">
            <a:solidFill>
              <a:srgbClr val="3D2F5C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9818370" y="4139946"/>
            <a:ext cx="182880" cy="182880"/>
          </a:xfrm>
          <a:prstGeom prst="ellipse">
            <a:avLst/>
          </a:prstGeom>
          <a:ln w="25400">
            <a:solidFill>
              <a:srgbClr val="18E0B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H="1">
            <a:off x="7955280" y="3637026"/>
            <a:ext cx="528066" cy="112014"/>
          </a:xfrm>
          <a:prstGeom prst="line">
            <a:avLst/>
          </a:prstGeom>
          <a:noFill/>
          <a:ln w="12700">
            <a:solidFill>
              <a:srgbClr val="3D2F5C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8391906" y="3545586"/>
            <a:ext cx="182880" cy="182880"/>
          </a:xfrm>
          <a:prstGeom prst="ellipse">
            <a:avLst/>
          </a:prstGeom>
          <a:ln w="25400">
            <a:solidFill>
              <a:srgbClr val="18E0B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10117836" y="2560320"/>
            <a:ext cx="352044" cy="304038"/>
          </a:xfrm>
          <a:prstGeom prst="line">
            <a:avLst/>
          </a:prstGeom>
          <a:noFill/>
          <a:ln w="12700">
            <a:solidFill>
              <a:srgbClr val="3D2F5C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10026396" y="2772918"/>
            <a:ext cx="182880" cy="182880"/>
          </a:xfrm>
          <a:prstGeom prst="ellipse">
            <a:avLst/>
          </a:prstGeom>
          <a:ln w="25400">
            <a:solidFill>
              <a:srgbClr val="18E0B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395460" y="3360420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77240" y="196596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CURE</a:t>
            </a:r>
            <a:endParaRPr lang="en-US" sz="96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320040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8E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Using REpresentatives</a:t>
            </a:r>
            <a:endParaRPr lang="en-US" sz="22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" y="3794760"/>
            <a:ext cx="6492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9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clustering that summarises each cluster by several scattered points shrunk toward its centroid — so it follows shapes a single centroid cannot describe.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" y="5029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Guha, Rastogi &amp; Shim (1998)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6C4A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SITS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Between two classical extremes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328416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2DCF0"/>
            </a:solidFill>
            <a:prstDash val="solid"/>
          </a:ln>
          <a:effectLst>
            <a:outerShdw sx="100000" sy="100000" kx="0" ky="0" algn="bl" rotWithShape="0" blurRad="152400" dist="38100" dir="5400000">
              <a:srgbClr val="6C4AB6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011680"/>
            <a:ext cx="384048" cy="384048"/>
          </a:xfrm>
          <a:prstGeom prst="ellipse">
            <a:avLst/>
          </a:prstGeom>
          <a:solidFill>
            <a:srgbClr val="EDE7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606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Single-link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017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C4A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 = 0,  c large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429000"/>
            <a:ext cx="2697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4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measured between boundary points. Follows arbitrary shapes, but two clusters whose edges nearly touch merge — the chaining effect.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16552" y="1691640"/>
            <a:ext cx="3328416" cy="3200400"/>
          </a:xfrm>
          <a:prstGeom prst="roundRect">
            <a:avLst>
              <a:gd name="adj" fmla="val 2286"/>
            </a:avLst>
          </a:prstGeom>
          <a:solidFill>
            <a:srgbClr val="1A1230"/>
          </a:solidFill>
          <a:ln w="12700">
            <a:solidFill>
              <a:srgbClr val="1A1230"/>
            </a:solidFill>
            <a:prstDash val="solid"/>
          </a:ln>
          <a:effectLst>
            <a:outerShdw sx="100000" sy="100000" kx="0" ky="0" algn="bl" rotWithShape="0" blurRad="152400" dist="38100" dir="5400000">
              <a:srgbClr val="6C4AB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36592" y="2011680"/>
            <a:ext cx="384048" cy="384048"/>
          </a:xfrm>
          <a:prstGeom prst="ellipse">
            <a:avLst/>
          </a:prstGeom>
          <a:solidFill>
            <a:srgbClr val="18E0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36592" y="2606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736592" y="3017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8E0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&lt; α &lt; 1,  c &gt; 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736592" y="3429000"/>
            <a:ext cx="2697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9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scattered representatives, pulled partway in. Keeps the shape information, damps the outlier sensitivity.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93024" y="1691640"/>
            <a:ext cx="3328416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2DCF0"/>
            </a:solidFill>
            <a:prstDash val="solid"/>
          </a:ln>
          <a:effectLst>
            <a:outerShdw sx="100000" sy="100000" kx="0" ky="0" algn="bl" rotWithShape="0" blurRad="152400" dist="38100" dir="5400000">
              <a:srgbClr val="6C4AB6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13064" y="2011680"/>
            <a:ext cx="384048" cy="384048"/>
          </a:xfrm>
          <a:prstGeom prst="ellipse">
            <a:avLst/>
          </a:prstGeom>
          <a:solidFill>
            <a:srgbClr val="EDE7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513064" y="2606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Centroid-link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513064" y="3017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C4A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 = 1  or  c = 1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513064" y="3429000"/>
            <a:ext cx="2697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4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representative collapses onto the centroid. Robust, but describes a sphere — useless for a crescent or a ring.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2120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α = 1 every representative equals the centroid, so d(Ci, Cj) reduces exactly to ‖μi − μj‖. The implementation asserts this equivalence as a test.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18E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FORMULATION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functions define CURE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3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= {x₁,…,x</a:t>
            </a:r>
            <a:pPr indent="0" marL="0">
              <a:buNone/>
            </a:pPr>
            <a:r>
              <a:rPr lang="en-US" sz="1300" baseline="-40000" dirty="0">
                <a:solidFill>
                  <a:srgbClr val="9A93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pPr indent="0" marL="0">
              <a:buNone/>
            </a:pPr>
            <a:r>
              <a:rPr lang="en-US" sz="1300" dirty="0">
                <a:solidFill>
                  <a:srgbClr val="9A93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} ⊂ ℝᵈ    ·    C</a:t>
            </a:r>
            <a:pPr indent="0" marL="0">
              <a:buNone/>
            </a:pPr>
            <a:r>
              <a:rPr lang="en-US" sz="1300" baseline="-40000" dirty="0">
                <a:solidFill>
                  <a:srgbClr val="9A93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pPr indent="0" marL="0">
              <a:buNone/>
            </a:pPr>
            <a:r>
              <a:rPr lang="en-US" sz="1300" dirty="0">
                <a:solidFill>
                  <a:srgbClr val="9A93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 cluster    ·    R</a:t>
            </a:r>
            <a:pPr indent="0" marL="0">
              <a:buNone/>
            </a:pPr>
            <a:r>
              <a:rPr lang="en-US" sz="1300" baseline="-40000" dirty="0">
                <a:solidFill>
                  <a:srgbClr val="9A93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pPr indent="0" marL="0">
              <a:buNone/>
            </a:pPr>
            <a:r>
              <a:rPr lang="en-US" sz="1300" dirty="0">
                <a:solidFill>
                  <a:srgbClr val="9A93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its representatives, |R</a:t>
            </a:r>
            <a:pPr indent="0" marL="0">
              <a:buNone/>
            </a:pPr>
            <a:r>
              <a:rPr lang="en-US" sz="1300" baseline="-40000" dirty="0">
                <a:solidFill>
                  <a:srgbClr val="9A93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pPr indent="0" marL="0">
              <a:buNone/>
            </a:pPr>
            <a:r>
              <a:rPr lang="en-US" sz="1300" dirty="0">
                <a:solidFill>
                  <a:srgbClr val="9A93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 ≤ c    ·    μ</a:t>
            </a:r>
            <a:pPr indent="0" marL="0">
              <a:buNone/>
            </a:pPr>
            <a:r>
              <a:rPr lang="en-US" sz="1300" baseline="-40000" dirty="0">
                <a:solidFill>
                  <a:srgbClr val="9A93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pPr indent="0" marL="0">
              <a:buNone/>
            </a:pPr>
            <a:r>
              <a:rPr lang="en-US" sz="1300" dirty="0">
                <a:solidFill>
                  <a:srgbClr val="9A93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its centroid    ·    α ∈ [0,1] shrink    ·    k clusters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41248" y="2048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C4A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298448" y="19933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9A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Centroid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298448" y="2240280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μ</a:t>
            </a:r>
            <a:pPr indent="0" marL="0">
              <a:buNone/>
            </a:pPr>
            <a:r>
              <a:rPr lang="en-US" sz="1900" baseline="-4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=  (1 / |C</a:t>
            </a:r>
            <a:pPr indent="0" marL="0">
              <a:buNone/>
            </a:pPr>
            <a:r>
              <a:rPr lang="en-US" sz="1900" baseline="-4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|) · Σ</a:t>
            </a:r>
            <a:pPr indent="0" marL="0">
              <a:buNone/>
            </a:pPr>
            <a:r>
              <a:rPr lang="en-US" sz="1900" baseline="-4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x ∈ Ci</a:t>
            </a:r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x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9006840" y="2249424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8B8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ordinary mean of the cluster's members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C4A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298448" y="305409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9A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selection — farthest-first traversal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298448" y="330098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pPr indent="0" marL="0">
              <a:buNone/>
            </a:pPr>
            <a:r>
              <a:rPr lang="en-US" sz="1900" baseline="-4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argmin ‖x − μ</a:t>
            </a:r>
            <a:pPr indent="0" marL="0">
              <a:buNone/>
            </a:pPr>
            <a:r>
              <a:rPr lang="en-US" sz="1900" baseline="-4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‖ ,      r</a:t>
            </a:r>
            <a:pPr indent="0" marL="0">
              <a:buNone/>
            </a:pPr>
            <a:r>
              <a:rPr lang="en-US" sz="1900" baseline="-4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argmax</a:t>
            </a:r>
            <a:pPr indent="0" marL="0">
              <a:buNone/>
            </a:pPr>
            <a:r>
              <a:rPr lang="en-US" sz="1900" baseline="-4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x ∈ Ci</a:t>
            </a:r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min</a:t>
            </a:r>
            <a:pPr indent="0" marL="0">
              <a:buNone/>
            </a:pPr>
            <a:r>
              <a:rPr lang="en-US" sz="1900" baseline="-4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j&lt;m</a:t>
            </a:r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‖x − r</a:t>
            </a:r>
            <a:pPr indent="0" marL="0">
              <a:buNone/>
            </a:pPr>
            <a:r>
              <a:rPr lang="en-US" sz="1900" baseline="-4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</a:t>
            </a:r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‖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9006840" y="331012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8B8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well-spread members, chosen deterministically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4005072"/>
            <a:ext cx="10881360" cy="941832"/>
          </a:xfrm>
          <a:prstGeom prst="roundRect">
            <a:avLst>
              <a:gd name="adj" fmla="val 5825"/>
            </a:avLst>
          </a:prstGeom>
          <a:solidFill>
            <a:srgbClr val="281C4A"/>
          </a:solidFill>
          <a:ln w="19050">
            <a:solidFill>
              <a:srgbClr val="18E0B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1248" y="4169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E0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298448" y="4114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18E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 — the defining step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298448" y="4361688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r′  =  r + α (μ</a:t>
            </a:r>
            <a:pPr indent="0" marL="0">
              <a:buNone/>
            </a:pPr>
            <a:r>
              <a:rPr lang="en-US" sz="1900" baseline="-4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r)   =   (1 − α) r  +  α μ</a:t>
            </a:r>
            <a:pPr indent="0" marL="0">
              <a:buNone/>
            </a:pPr>
            <a:r>
              <a:rPr lang="en-US" sz="1900" baseline="-4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9006840" y="437083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8B8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representative moves a fraction α of the way inward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" y="5230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C4A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298448" y="51755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9A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Inter-cluster distance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298448" y="5422392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d(C</a:t>
            </a:r>
            <a:pPr indent="0" marL="0">
              <a:buNone/>
            </a:pPr>
            <a:r>
              <a:rPr lang="en-US" sz="1900" baseline="-4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C</a:t>
            </a:r>
            <a:pPr indent="0" marL="0">
              <a:buNone/>
            </a:pPr>
            <a:r>
              <a:rPr lang="en-US" sz="1900" baseline="-4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</a:t>
            </a:r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 =  min</a:t>
            </a:r>
            <a:pPr indent="0" marL="0">
              <a:buNone/>
            </a:pPr>
            <a:r>
              <a:rPr lang="en-US" sz="1900" baseline="-4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p ∈ Ri , q ∈ Rj</a:t>
            </a:r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‖p − q‖</a:t>
            </a:r>
            <a:pPr indent="0" marL="0">
              <a:buNone/>
            </a:pPr>
            <a:r>
              <a:rPr lang="en-US" sz="1900" baseline="-4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9006840" y="5431536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8B8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closest pair of representatives, Euclidean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3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6C4A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· merge · shrink · label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6858000" cy="4160520"/>
          </a:xfrm>
          <a:prstGeom prst="roundRect">
            <a:avLst>
              <a:gd name="adj" fmla="val 1319"/>
            </a:avLst>
          </a:prstGeom>
          <a:solidFill>
            <a:srgbClr val="1A12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640080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8D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  X ⊂ ℝᵈ,  k,  c,  α,  optional sample size s</a:t>
            </a:r>
            <a:endParaRPr lang="en-US" sz="11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8D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 labels ℓ : X → {0,…,k−1}</a:t>
            </a:r>
            <a:endParaRPr lang="en-US" sz="1150" dirty="0"/>
          </a:p>
          <a:p>
            <a:pPr indent="0" marL="0">
              <a:lnSpc>
                <a:spcPts val="1550"/>
              </a:lnSpc>
              <a:buNone/>
            </a:pPr>
            <a:endParaRPr lang="en-US" sz="11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8D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S ← random sample of size s from X      (S ← X if omitted)</a:t>
            </a:r>
            <a:endParaRPr lang="en-US" sz="11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8D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for each xi ∈ S:</a:t>
            </a:r>
            <a:endParaRPr lang="en-US" sz="11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8D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    Ci ← {xi} ;  Ri ← {xi} ;  μi ← xi</a:t>
            </a:r>
            <a:endParaRPr lang="en-US" sz="1150" dirty="0"/>
          </a:p>
          <a:p>
            <a:pPr indent="0" marL="0">
              <a:lnSpc>
                <a:spcPts val="1550"/>
              </a:lnSpc>
              <a:buNone/>
            </a:pPr>
            <a:endParaRPr lang="en-US" sz="11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8D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while |{C}| &gt; k:</a:t>
            </a:r>
            <a:endParaRPr lang="en-US" sz="11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8D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    (a,b) ← argmin d(Ca, Cb)        ▷ ties → lowest index</a:t>
            </a:r>
            <a:endParaRPr lang="en-US" sz="11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8D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    Cn ← Ca ∪ Cb</a:t>
            </a:r>
            <a:endParaRPr lang="en-US" sz="11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8D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    μn ← mean(Cn)</a:t>
            </a:r>
            <a:endParaRPr lang="en-US" sz="11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8D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     {r₁..rc} ← FarthestFirst(Cn, μn, c)      ▷ eq. 2</a:t>
            </a:r>
            <a:endParaRPr lang="en-US" sz="11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8D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     Rn ← { rm + α(μn − rm) }                 ▷ eq. 3</a:t>
            </a:r>
            <a:endParaRPr lang="en-US" sz="11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8D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    replace Ca, Cb with Cn</a:t>
            </a:r>
            <a:endParaRPr lang="en-US" sz="1150" dirty="0"/>
          </a:p>
          <a:p>
            <a:pPr indent="0" marL="0">
              <a:lnSpc>
                <a:spcPts val="1550"/>
              </a:lnSpc>
              <a:buNone/>
            </a:pPr>
            <a:endParaRPr lang="en-US" sz="11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8D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 relabel surviving clusters 0…k−1</a:t>
            </a:r>
            <a:endParaRPr lang="en-US" sz="11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8D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 for each x ∈ X \ S:</a:t>
            </a:r>
            <a:endParaRPr lang="en-US" sz="11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D8D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     ℓ(x) ← label of argmin ‖x − r‖,  r ∈ ⋃ Ri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863840" y="1801368"/>
            <a:ext cx="310896" cy="310896"/>
          </a:xfrm>
          <a:prstGeom prst="ellipse">
            <a:avLst/>
          </a:prstGeom>
          <a:solidFill>
            <a:srgbClr val="6C4A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863840" y="1810512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302752" y="17830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302752" y="2112264"/>
            <a:ext cx="3127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4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Merging is the expensive part, so CURE clusters a subset and labels the rest afterwards.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863840" y="2852928"/>
            <a:ext cx="310896" cy="310896"/>
          </a:xfrm>
          <a:prstGeom prst="ellipse">
            <a:avLst/>
          </a:prstGeom>
          <a:solidFill>
            <a:srgbClr val="6C4A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63840" y="2862072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302752" y="28346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Merge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8302752" y="3163824"/>
            <a:ext cx="3127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4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Repeatedly join the pair whose representatives come closest — agglomerative, bottom-up.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863840" y="3904488"/>
            <a:ext cx="310896" cy="310896"/>
          </a:xfrm>
          <a:prstGeom prst="ellipse">
            <a:avLst/>
          </a:prstGeom>
          <a:solidFill>
            <a:srgbClr val="18E0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863840" y="3913632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302752" y="38862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Shrink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302752" y="4215384"/>
            <a:ext cx="3127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4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each merge, re-pick c scattered points and pull them α of the way to the centroid.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863840" y="4956048"/>
            <a:ext cx="310896" cy="310896"/>
          </a:xfrm>
          <a:prstGeom prst="ellipse">
            <a:avLst/>
          </a:prstGeom>
          <a:solidFill>
            <a:srgbClr val="6C4A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863840" y="4965192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302752" y="49377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8302752" y="5266944"/>
            <a:ext cx="3127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4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unsampled point takes the label of its nearest shrunken representative.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3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6C4A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Parameters and the Python interface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881360" cy="1298448"/>
          </a:xfrm>
          <a:prstGeom prst="roundRect">
            <a:avLst>
              <a:gd name="adj" fmla="val 4225"/>
            </a:avLst>
          </a:prstGeom>
          <a:solidFill>
            <a:srgbClr val="1A12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55648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D8D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cure(X, n_clusters=3, n_representatives=5, shrink_factor=0.2,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D8D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sample_size=None, random_seed=42) -&gt; ClusterResult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3230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8E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only — written from scratch, no scikit-learn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3044952"/>
            <a:ext cx="10881360" cy="658368"/>
          </a:xfrm>
          <a:prstGeom prst="rect">
            <a:avLst/>
          </a:prstGeom>
          <a:solidFill>
            <a:srgbClr val="EDE8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31272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n_clusters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309981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C4A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4206240" y="3145536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stop merging. Must be known in advance.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8404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n_representatives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611880" y="381304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C4A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206240" y="3858768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summarising each cluster. c = 1 degenerates to centroid-link.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471416"/>
            <a:ext cx="10881360" cy="658368"/>
          </a:xfrm>
          <a:prstGeom prst="rect">
            <a:avLst/>
          </a:prstGeom>
          <a:solidFill>
            <a:srgbClr val="EDE8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45537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shrink_factor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611880" y="45262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C4A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4206240" y="457200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= representatives on the boundary; 1 = collapsed onto the centroid.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526694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sample_size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611880" y="52395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C4A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4206240" y="5285232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a subset, then label the remainder by nearest representative.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68680" y="610819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shrink, in code:   </a:t>
            </a:r>
            <a:pPr indent="0" marL="0">
              <a:buNone/>
            </a:pPr>
            <a:r>
              <a:rPr lang="en-US" sz="1300" b="1" dirty="0">
                <a:solidFill>
                  <a:srgbClr val="1A12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representatives + alpha * (centroid - representatives)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18E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AND BEHAVIOUR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Measured, not quoted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7276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E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01952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9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Merging scans O(m²) pairs and repeats ≈ n times, so this formulation is O(n³). A heap of each cluster's nearest neighbour reduces it to the O(n² log n) usually quoted.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3347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93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26334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92608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828800" y="29260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C2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0.24 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34670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828800" y="334670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C2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1.82 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76732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828800" y="376732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C2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14.99 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18795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828800" y="418795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E0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54.31 s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68172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8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Doubling 150 → 300 costs ≈ 8× — cubic, confirmed.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1572768"/>
            <a:ext cx="5212080" cy="4114800"/>
          </a:xfrm>
          <a:prstGeom prst="roundRect">
            <a:avLst>
              <a:gd name="adj" fmla="val 1333"/>
            </a:avLst>
          </a:prstGeom>
          <a:solidFill>
            <a:srgbClr val="281C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29400" y="18288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8E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representatives earn their keep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629400" y="23317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moons  ·  c = 10, α = 0.1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0424160" y="230428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8E0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1.000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629400" y="2606040"/>
            <a:ext cx="4663440" cy="50292"/>
          </a:xfrm>
          <a:prstGeom prst="rect">
            <a:avLst/>
          </a:prstGeom>
          <a:solidFill>
            <a:srgbClr val="18E0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29400" y="29900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moons  ·  centroid-like (c = 1, α = 1)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424160" y="296265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7A6F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0.575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629400" y="3264408"/>
            <a:ext cx="2681478" cy="50292"/>
          </a:xfrm>
          <a:prstGeom prst="rect">
            <a:avLst/>
          </a:prstGeom>
          <a:solidFill>
            <a:srgbClr val="7A6F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29400" y="36484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Concentric circles  ·  c = 10, α = 0.1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0424160" y="3621024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8E0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1.000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629400" y="3922776"/>
            <a:ext cx="4663440" cy="50292"/>
          </a:xfrm>
          <a:prstGeom prst="rect">
            <a:avLst/>
          </a:prstGeom>
          <a:solidFill>
            <a:srgbClr val="18E0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629400" y="43068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Anisotropic  ·  α = 0.2 (chaining)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0424160" y="427939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7A6F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0.776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629400" y="4581144"/>
            <a:ext cx="3618829" cy="50292"/>
          </a:xfrm>
          <a:prstGeom prst="rect">
            <a:avLst/>
          </a:prstGeom>
          <a:solidFill>
            <a:srgbClr val="7A6F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629400" y="49651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Anisotropic  ·  α = 0.5 (damped)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0424160" y="493776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8E0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0.957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629400" y="5239512"/>
            <a:ext cx="4462912" cy="50292"/>
          </a:xfrm>
          <a:prstGeom prst="rect">
            <a:avLst/>
          </a:prstGeom>
          <a:solidFill>
            <a:srgbClr val="18E0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629400" y="535838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B8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with ground truth (1.000 = perfect partition)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8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free win: on well-separated blobs a single centroid already suffices, and extra representatives only invite chaining.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CURE — Clustering Using Representatives</dc:title>
  <dc:subject>PptxGenJS Presentation</dc:subject>
  <dc:creator>Clustering Explorer</dc:creator>
  <cp:lastModifiedBy>Clustering Explorer</cp:lastModifiedBy>
  <cp:revision>1</cp:revision>
  <dcterms:created xsi:type="dcterms:W3CDTF">2026-09-06T09:04:29Z</dcterms:created>
  <dcterms:modified xsi:type="dcterms:W3CDTF">2026-09-06T09:04:29Z</dcterms:modified>
</cp:coreProperties>
</file>